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9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4527" y="921469"/>
            <a:ext cx="59949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418"/>
              </a:spcAft>
              <a:buNone/>
            </a:pPr>
            <a:r>
              <a:rPr lang="en-US" sz="1080" spc="324" kern="0" dirty="0">
                <a:solidFill>
                  <a:srgbClr val="9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23AID302 — BIG DATA ANALYTICS | 0TH REVIEW</a:t>
            </a:r>
            <a:endParaRPr lang="en-US" sz="1080" dirty="0"/>
          </a:p>
        </p:txBody>
      </p:sp>
      <p:sp>
        <p:nvSpPr>
          <p:cNvPr id="6" name="Text 2"/>
          <p:cNvSpPr/>
          <p:nvPr/>
        </p:nvSpPr>
        <p:spPr>
          <a:xfrm>
            <a:off x="2638563" y="1211907"/>
            <a:ext cx="38668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spc="-13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1781075" y="2151980"/>
            <a:ext cx="558177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215"/>
              </a:spcBef>
              <a:buNone/>
            </a:pPr>
            <a:r>
              <a:rPr lang="en-US" sz="1510" i="1" dirty="0">
                <a:solidFill>
                  <a:srgbClr val="7FB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Multi-Disease Clinical Risk Prediction Engine</a:t>
            </a:r>
            <a:endParaRPr lang="en-US" sz="1510" dirty="0"/>
          </a:p>
        </p:txBody>
      </p:sp>
      <p:sp>
        <p:nvSpPr>
          <p:cNvPr id="8" name="Text 4"/>
          <p:cNvSpPr/>
          <p:nvPr/>
        </p:nvSpPr>
        <p:spPr>
          <a:xfrm>
            <a:off x="2136577" y="2589461"/>
            <a:ext cx="48708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215"/>
              </a:spcBef>
              <a:buNone/>
            </a:pPr>
            <a:r>
              <a:rPr lang="en-US" sz="1080" spc="27" kern="0" dirty="0">
                <a:solidFill>
                  <a:srgbClr val="7C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· Hadoop HDFS · Scala · Spark MLlib · Docker</a:t>
            </a:r>
            <a:endParaRPr lang="en-US" sz="1080" dirty="0"/>
          </a:p>
        </p:txBody>
      </p:sp>
      <p:sp>
        <p:nvSpPr>
          <p:cNvPr id="9" name="Shape 5"/>
          <p:cNvSpPr/>
          <p:nvPr/>
        </p:nvSpPr>
        <p:spPr>
          <a:xfrm>
            <a:off x="3383756" y="2982441"/>
            <a:ext cx="2376487" cy="4763"/>
          </a:xfrm>
          <a:prstGeom prst="rect">
            <a:avLst/>
          </a:prstGeom>
          <a:solidFill>
            <a:srgbClr val="2E74B5">
              <a:alpha val="7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3063824" y="3212604"/>
            <a:ext cx="301627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 Maitreya | CB.AI.U4AID24156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48901" y="3488606"/>
            <a:ext cx="244619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23AID302 — Big Data Analytics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76236" y="3764607"/>
            <a:ext cx="199152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Sreeja B P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904388" y="4040609"/>
            <a:ext cx="33352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Coimbatore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5F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854772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F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5348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376880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Meets Big Data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548580" y="1243905"/>
            <a:ext cx="61024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sector generates millions of patient records daily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686470" y="1482775"/>
            <a:ext cx="38487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hospitals, wearables, labs, and EHRs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548580" y="1845022"/>
            <a:ext cx="57877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cannot process this volume, velocity, and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686470" y="2083891"/>
            <a:ext cx="24694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of data in real time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548580" y="2446139"/>
            <a:ext cx="6006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diseases — heart disease, diabetes, stroke, lung cancer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686470" y="2685008"/>
            <a:ext cx="37330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cause 70%+ of global deaths annually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548580" y="3047256"/>
            <a:ext cx="60770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through data-driven prediction can save millions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686470" y="3286125"/>
            <a:ext cx="7002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lives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548580" y="3648373"/>
            <a:ext cx="60285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technologies like Apache Spark and Hadoop HDFS now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686470" y="3887242"/>
            <a:ext cx="42827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scalable, real-time healthcare analytics</a:t>
            </a:r>
            <a:endParaRPr lang="en-US" sz="1370" dirty="0"/>
          </a:p>
        </p:txBody>
      </p:sp>
      <p:sp>
        <p:nvSpPr>
          <p:cNvPr id="17" name="Shape 15"/>
          <p:cNvSpPr/>
          <p:nvPr/>
        </p:nvSpPr>
        <p:spPr>
          <a:xfrm>
            <a:off x="7087605" y="533512"/>
            <a:ext cx="638175" cy="638175"/>
          </a:xfrm>
          <a:prstGeom prst="ellipse">
            <a:avLst/>
          </a:prstGeom>
          <a:solidFill>
            <a:srgbClr val="FFFFFF"/>
          </a:solidFill>
          <a:ln w="4763">
            <a:solidFill>
              <a:srgbClr val="D6E4F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57" y="706264"/>
            <a:ext cx="292596" cy="2925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71804" y="1253356"/>
            <a:ext cx="66795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8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580" y="1470794"/>
            <a:ext cx="146298" cy="14629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087605" y="1761939"/>
            <a:ext cx="638175" cy="638175"/>
          </a:xfrm>
          <a:prstGeom prst="ellipse">
            <a:avLst/>
          </a:prstGeom>
          <a:solidFill>
            <a:srgbClr val="FFFFFF"/>
          </a:solidFill>
          <a:ln w="4763">
            <a:solidFill>
              <a:srgbClr val="D6E4F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57" y="1934691"/>
            <a:ext cx="292596" cy="2925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73305" y="2481783"/>
            <a:ext cx="4040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8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580" y="2699221"/>
            <a:ext cx="146298" cy="14629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087605" y="2990366"/>
            <a:ext cx="638175" cy="638175"/>
          </a:xfrm>
          <a:prstGeom prst="ellipse">
            <a:avLst/>
          </a:prstGeom>
          <a:solidFill>
            <a:srgbClr val="FFFFFF"/>
          </a:solidFill>
          <a:ln w="4763">
            <a:solidFill>
              <a:srgbClr val="D6E4F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57" y="3163119"/>
            <a:ext cx="292596" cy="2925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08540" y="3710211"/>
            <a:ext cx="109234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Tools</a:t>
            </a:r>
            <a:endParaRPr lang="en-US" sz="108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580" y="3927649"/>
            <a:ext cx="146298" cy="14629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087605" y="4218794"/>
            <a:ext cx="638175" cy="638175"/>
          </a:xfrm>
          <a:prstGeom prst="ellipse">
            <a:avLst/>
          </a:prstGeom>
          <a:solidFill>
            <a:srgbClr val="FFFFFF"/>
          </a:solidFill>
          <a:ln w="4763">
            <a:solidFill>
              <a:srgbClr val="D6E4F7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57" y="4391546"/>
            <a:ext cx="292596" cy="29259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15919" y="4938638"/>
            <a:ext cx="81316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0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80" dirty="0"/>
          </a:p>
        </p:txBody>
      </p:sp>
      <p:sp>
        <p:nvSpPr>
          <p:cNvPr id="32" name="Text 23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33" name="Text 24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218761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IMPORTANCE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369731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Domain Matters</a:t>
            </a:r>
            <a:endParaRPr lang="en-US" sz="2160" dirty="0"/>
          </a:p>
        </p:txBody>
      </p:sp>
      <p:sp>
        <p:nvSpPr>
          <p:cNvPr id="7" name="Shape 5"/>
          <p:cNvSpPr/>
          <p:nvPr/>
        </p:nvSpPr>
        <p:spPr>
          <a:xfrm>
            <a:off x="549436" y="1336328"/>
            <a:ext cx="1900238" cy="2676525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430" y="1495909"/>
            <a:ext cx="476250" cy="4762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679" y="1615157"/>
            <a:ext cx="237679" cy="23767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0730" y="2114178"/>
            <a:ext cx="5376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972"/>
              </a:spcBef>
              <a:buNone/>
            </a:pPr>
            <a:r>
              <a:rPr lang="en-US" sz="137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70" dirty="0"/>
          </a:p>
        </p:txBody>
      </p:sp>
      <p:sp>
        <p:nvSpPr>
          <p:cNvPr id="11" name="Text 8"/>
          <p:cNvSpPr/>
          <p:nvPr/>
        </p:nvSpPr>
        <p:spPr>
          <a:xfrm>
            <a:off x="430329" y="2437209"/>
            <a:ext cx="2138377" cy="355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TB of health data</a:t>
            </a:r>
            <a:endParaRPr lang="en-US" sz="1080" dirty="0"/>
          </a:p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daily worldwide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597721" y="1336328"/>
            <a:ext cx="1900238" cy="2676525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09677" y="1495909"/>
            <a:ext cx="476250" cy="4762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26" y="1615157"/>
            <a:ext cx="237679" cy="23767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30995" y="2114178"/>
            <a:ext cx="6336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972"/>
              </a:spcBef>
              <a:buNone/>
            </a:pPr>
            <a:r>
              <a:rPr lang="en-US" sz="137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70" dirty="0"/>
          </a:p>
        </p:txBody>
      </p:sp>
      <p:sp>
        <p:nvSpPr>
          <p:cNvPr id="16" name="Text 12"/>
          <p:cNvSpPr/>
          <p:nvPr/>
        </p:nvSpPr>
        <p:spPr>
          <a:xfrm>
            <a:off x="2534755" y="2437209"/>
            <a:ext cx="1926230" cy="355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monitors generate</a:t>
            </a:r>
            <a:endParaRPr lang="en-US" sz="1080" dirty="0"/>
          </a:p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 every second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4646005" y="1336328"/>
            <a:ext cx="1900238" cy="2676525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57999" y="1495909"/>
            <a:ext cx="476250" cy="4762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47" y="1615157"/>
            <a:ext cx="237679" cy="23767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39611" y="2114178"/>
            <a:ext cx="11129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972"/>
              </a:spcBef>
              <a:buNone/>
            </a:pPr>
            <a:r>
              <a:rPr lang="en-US" sz="137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370" dirty="0"/>
          </a:p>
        </p:txBody>
      </p:sp>
      <p:sp>
        <p:nvSpPr>
          <p:cNvPr id="21" name="Text 16"/>
          <p:cNvSpPr/>
          <p:nvPr/>
        </p:nvSpPr>
        <p:spPr>
          <a:xfrm>
            <a:off x="4633492" y="2437209"/>
            <a:ext cx="1925263" cy="355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data — labs,</a:t>
            </a:r>
            <a:endParaRPr lang="en-US" sz="1080" dirty="0"/>
          </a:p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notes, wearables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694289" y="1336328"/>
            <a:ext cx="1900238" cy="2676525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06246" y="1495909"/>
            <a:ext cx="476250" cy="4762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494" y="1615157"/>
            <a:ext cx="237679" cy="23767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54360" y="2114178"/>
            <a:ext cx="5800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972"/>
              </a:spcBef>
              <a:buNone/>
            </a:pPr>
            <a:r>
              <a:rPr lang="en-US" sz="137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70" dirty="0"/>
          </a:p>
        </p:txBody>
      </p:sp>
      <p:sp>
        <p:nvSpPr>
          <p:cNvPr id="26" name="Text 20"/>
          <p:cNvSpPr/>
          <p:nvPr/>
        </p:nvSpPr>
        <p:spPr>
          <a:xfrm>
            <a:off x="6640034" y="2437209"/>
            <a:ext cx="2008748" cy="355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can cut</a:t>
            </a:r>
            <a:endParaRPr lang="en-US" sz="1080" dirty="0"/>
          </a:p>
          <a:p>
            <a:pPr algn="ctr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misdiagnosis by 30%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2043235" y="4545434"/>
            <a:ext cx="50574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Global Health Observatory &amp; IDC Data Age 2025 Report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29" name="Text 23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3772384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3871578" y="322883"/>
            <a:ext cx="140084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171591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3181942" y="607144"/>
            <a:ext cx="278004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914400" y="1235422"/>
            <a:ext cx="7315200" cy="1566862"/>
          </a:xfrm>
          <a:prstGeom prst="roundRect">
            <a:avLst>
              <a:gd name="adj" fmla="val 3502"/>
            </a:avLst>
          </a:prstGeom>
          <a:solidFill>
            <a:srgbClr val="D6E4F7"/>
          </a:solidFill>
          <a:ln/>
        </p:spPr>
      </p:sp>
      <p:sp>
        <p:nvSpPr>
          <p:cNvPr id="9" name="Text 7"/>
          <p:cNvSpPr/>
          <p:nvPr/>
        </p:nvSpPr>
        <p:spPr>
          <a:xfrm>
            <a:off x="380743" y="1480096"/>
            <a:ext cx="8425302" cy="10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5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healthcare prediction systems are designed for a single disease,</a:t>
            </a:r>
            <a:endParaRPr lang="en-US" sz="1580" dirty="0"/>
          </a:p>
          <a:p>
            <a:pPr algn="ctr" indent="0" marL="0">
              <a:lnSpc>
                <a:spcPts val="2177"/>
              </a:lnSpc>
              <a:buNone/>
            </a:pPr>
            <a:r>
              <a:rPr lang="en-US" sz="15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static datasets, and cannot process the massive volume, velocity,</a:t>
            </a:r>
            <a:endParaRPr lang="en-US" sz="1580" dirty="0"/>
          </a:p>
          <a:p>
            <a:pPr algn="ctr" indent="0" marL="0">
              <a:lnSpc>
                <a:spcPts val="2177"/>
              </a:lnSpc>
              <a:buNone/>
            </a:pPr>
            <a:r>
              <a:rPr lang="en-US" sz="15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variety of modern patient data in real time — leaving hospitals without a</a:t>
            </a:r>
            <a:endParaRPr lang="en-US" sz="1580" dirty="0"/>
          </a:p>
          <a:p>
            <a:pPr algn="ctr" indent="0" marL="0">
              <a:lnSpc>
                <a:spcPts val="2177"/>
              </a:lnSpc>
              <a:buNone/>
            </a:pPr>
            <a:r>
              <a:rPr lang="en-US" sz="158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unified, multi-disease early-warning system.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914400" y="3212753"/>
            <a:ext cx="25633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177305" y="3214836"/>
            <a:ext cx="6130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models — no unified multi-disease prediction exists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914400" y="3600227"/>
            <a:ext cx="25633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177305" y="3602310"/>
            <a:ext cx="62623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systems — cannot score new patient records in real time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914400" y="3987701"/>
            <a:ext cx="25633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1177305" y="3989784"/>
            <a:ext cx="66866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veracity handling — messy, missing, inconsistent clinical data ignored</a:t>
            </a:r>
            <a:endParaRPr lang="en-US" sz="1370" dirty="0"/>
          </a:p>
        </p:txBody>
      </p:sp>
      <p:sp>
        <p:nvSpPr>
          <p:cNvPr id="16" name="Text 14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8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235422"/>
            <a:ext cx="7315200" cy="1566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52824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486039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Related Work</a:t>
            </a:r>
            <a:endParaRPr lang="en-US" sz="2160" dirty="0"/>
          </a:p>
        </p:txBody>
      </p:sp>
      <p:sp>
        <p:nvSpPr>
          <p:cNvPr id="7" name="Shape 5"/>
          <p:cNvSpPr/>
          <p:nvPr/>
        </p:nvSpPr>
        <p:spPr>
          <a:xfrm>
            <a:off x="547688" y="1130684"/>
            <a:ext cx="8048625" cy="3005137"/>
          </a:xfrm>
          <a:prstGeom prst="roundRect">
            <a:avLst>
              <a:gd name="adj" fmla="val 1521"/>
            </a:avLst>
          </a:prstGeom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7688" y="1130684"/>
          <a:ext cx="8048625" cy="914400"/>
        </p:xfrm>
        <a:graphic>
          <a:graphicData uri="http://schemas.openxmlformats.org/drawingml/2006/table">
            <a:tbl>
              <a:tblPr/>
              <a:tblGrid>
                <a:gridCol w="1931194"/>
                <a:gridCol w="724198"/>
                <a:gridCol w="2977307"/>
                <a:gridCol w="241414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Ed-daoudy et al. (Springer)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heart disease prediction using Twitter + Kafka + Spark MLlib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disease only. No HDFS. No data quality pipeline.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Ebada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prediction using Spark MLlib batch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streaming. No data variety. Single disease.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 streaming prediction with Spark Streaming + MLlib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HDFS. No ML Pipeline API. No veracity handling.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Ed-daoudy &amp; Maalmi (Springer)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+ Kafka + Cassandra + Spark for multi-stream disease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28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HDFS. No Scala. Overly complex. No veracity.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491" marR="114491" marT="107633" marB="10763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75359" y="4545434"/>
            <a:ext cx="83932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papers address only 1–2 aspects. None provides a complete, unified, reproducible Big Data healthcare pipeline.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49603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196047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548580" y="1258193"/>
            <a:ext cx="120427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44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548580" y="1621110"/>
            <a:ext cx="32373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prediction models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580" y="1938263"/>
            <a:ext cx="30283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HDFS-based storage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580" y="2255416"/>
            <a:ext cx="36621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data veracity/quality pipeline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580" y="2572569"/>
            <a:ext cx="36821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OR batch — never both together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580" y="2889721"/>
            <a:ext cx="48970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infrastructure (Kafka, Cassandra) not reproducible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580" y="3206874"/>
            <a:ext cx="461787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Scala-based unified ML Pipeline API implementation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35" y="1258193"/>
            <a:ext cx="262226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44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MediSpark Provides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754835" y="1621110"/>
            <a:ext cx="42987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diseases predicted simultaneously in one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35" y="1938263"/>
            <a:ext cx="36111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HDFS storage with 3× block replication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35" y="2255416"/>
            <a:ext cx="463944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veracity pipeline — IQR, null handling, dedup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35" y="2572569"/>
            <a:ext cx="46447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batch training AND real-time Structured Streaming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35" y="2889721"/>
            <a:ext cx="404218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Docker-based setup — fully reproducible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35" y="3206874"/>
            <a:ext cx="50320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Spark ML Pipeline API — production-grade architecture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707" y="1234827"/>
            <a:ext cx="9525" cy="3290887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49245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2382"/>
            <a:ext cx="545059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90" b="1" spc="-52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MediSpark Pipeline</a:t>
            </a:r>
            <a:endParaRPr lang="en-US" sz="2090" dirty="0"/>
          </a:p>
        </p:txBody>
      </p:sp>
      <p:sp>
        <p:nvSpPr>
          <p:cNvPr id="7" name="Shape 5"/>
          <p:cNvSpPr/>
          <p:nvPr/>
        </p:nvSpPr>
        <p:spPr>
          <a:xfrm>
            <a:off x="274365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84457" y="1525414"/>
            <a:ext cx="803679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860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(Kaggle/UCI)</a:t>
            </a:r>
            <a:endParaRPr lang="en-US" sz="86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222" y="1612181"/>
            <a:ext cx="118839" cy="11883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36204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264A7C"/>
          </a:solidFill>
          <a:ln/>
        </p:spPr>
      </p:sp>
      <p:sp>
        <p:nvSpPr>
          <p:cNvPr id="11" name="Text 8"/>
          <p:cNvSpPr/>
          <p:nvPr/>
        </p:nvSpPr>
        <p:spPr>
          <a:xfrm>
            <a:off x="1549643" y="1525414"/>
            <a:ext cx="997059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 (3</a:t>
            </a:r>
            <a:endParaRPr lang="en-US" sz="860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DataNodes)</a:t>
            </a:r>
            <a:endParaRPr lang="en-US" sz="86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61" y="1612181"/>
            <a:ext cx="118839" cy="11883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98043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2D5C94"/>
          </a:solidFill>
          <a:ln/>
        </p:spPr>
      </p:sp>
      <p:sp>
        <p:nvSpPr>
          <p:cNvPr id="14" name="Text 10"/>
          <p:cNvSpPr/>
          <p:nvPr/>
        </p:nvSpPr>
        <p:spPr>
          <a:xfrm>
            <a:off x="2815653" y="1525414"/>
            <a:ext cx="988643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Data</a:t>
            </a:r>
            <a:endParaRPr lang="en-US" sz="860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(Scala)</a:t>
            </a:r>
            <a:endParaRPr lang="en-US" sz="86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900" y="1612181"/>
            <a:ext cx="118839" cy="11883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059882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2E74B5"/>
          </a:solidFill>
          <a:ln/>
        </p:spPr>
      </p:sp>
      <p:sp>
        <p:nvSpPr>
          <p:cNvPr id="17" name="Text 12"/>
          <p:cNvSpPr/>
          <p:nvPr/>
        </p:nvSpPr>
        <p:spPr>
          <a:xfrm>
            <a:off x="3952302" y="1600870"/>
            <a:ext cx="12390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6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739" y="1612181"/>
            <a:ext cx="118839" cy="118839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321722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3F85C4"/>
          </a:solidFill>
          <a:ln/>
        </p:spPr>
      </p:sp>
      <p:sp>
        <p:nvSpPr>
          <p:cNvPr id="20" name="Text 14"/>
          <p:cNvSpPr/>
          <p:nvPr/>
        </p:nvSpPr>
        <p:spPr>
          <a:xfrm>
            <a:off x="5297723" y="1525414"/>
            <a:ext cx="107193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860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(RF + LR)</a:t>
            </a:r>
            <a:endParaRPr lang="en-US" sz="86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579" y="1612181"/>
            <a:ext cx="118839" cy="118839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583561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5A9BD4"/>
          </a:solidFill>
          <a:ln/>
        </p:spPr>
      </p:sp>
      <p:sp>
        <p:nvSpPr>
          <p:cNvPr id="23" name="Text 16"/>
          <p:cNvSpPr/>
          <p:nvPr/>
        </p:nvSpPr>
        <p:spPr>
          <a:xfrm>
            <a:off x="6753426" y="1525414"/>
            <a:ext cx="684208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860" dirty="0"/>
          </a:p>
          <a:p>
            <a:pPr algn="ctr" indent="0" marL="0">
              <a:lnSpc>
                <a:spcPts val="1188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6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418" y="1612181"/>
            <a:ext cx="118839" cy="118839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845400" y="1338225"/>
            <a:ext cx="1023937" cy="666750"/>
          </a:xfrm>
          <a:prstGeom prst="roundRect">
            <a:avLst>
              <a:gd name="adj" fmla="val 6857"/>
            </a:avLst>
          </a:prstGeom>
          <a:solidFill>
            <a:srgbClr val="7FB1E0"/>
          </a:solidFill>
          <a:ln/>
        </p:spPr>
      </p:sp>
      <p:sp>
        <p:nvSpPr>
          <p:cNvPr id="26" name="Text 18"/>
          <p:cNvSpPr/>
          <p:nvPr/>
        </p:nvSpPr>
        <p:spPr>
          <a:xfrm>
            <a:off x="7801861" y="1600870"/>
            <a:ext cx="11110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Output</a:t>
            </a:r>
            <a:endParaRPr lang="en-US" sz="860" dirty="0"/>
          </a:p>
        </p:txBody>
      </p:sp>
      <p:sp>
        <p:nvSpPr>
          <p:cNvPr id="27" name="Text 19"/>
          <p:cNvSpPr/>
          <p:nvPr/>
        </p:nvSpPr>
        <p:spPr>
          <a:xfrm>
            <a:off x="548580" y="2693640"/>
            <a:ext cx="1696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70" dirty="0"/>
          </a:p>
        </p:txBody>
      </p:sp>
      <p:sp>
        <p:nvSpPr>
          <p:cNvPr id="28" name="Text 20"/>
          <p:cNvSpPr/>
          <p:nvPr/>
        </p:nvSpPr>
        <p:spPr>
          <a:xfrm>
            <a:off x="726504" y="2693640"/>
            <a:ext cx="67936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4 diseases — Heart, Diabetes, Stroke, Lung Cancer — in parallel</a:t>
            </a:r>
            <a:endParaRPr lang="en-US" sz="1370" dirty="0"/>
          </a:p>
        </p:txBody>
      </p:sp>
      <p:sp>
        <p:nvSpPr>
          <p:cNvPr id="29" name="Text 21"/>
          <p:cNvSpPr/>
          <p:nvPr/>
        </p:nvSpPr>
        <p:spPr>
          <a:xfrm>
            <a:off x="548580" y="3067348"/>
            <a:ext cx="1696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70" dirty="0"/>
          </a:p>
        </p:txBody>
      </p:sp>
      <p:sp>
        <p:nvSpPr>
          <p:cNvPr id="30" name="Text 22"/>
          <p:cNvSpPr/>
          <p:nvPr/>
        </p:nvSpPr>
        <p:spPr>
          <a:xfrm>
            <a:off x="726504" y="3067348"/>
            <a:ext cx="63482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new patients in real time every 5 seconds via Spark Streaming</a:t>
            </a:r>
            <a:endParaRPr lang="en-US" sz="1370" dirty="0"/>
          </a:p>
        </p:txBody>
      </p:sp>
      <p:sp>
        <p:nvSpPr>
          <p:cNvPr id="31" name="Text 23"/>
          <p:cNvSpPr/>
          <p:nvPr/>
        </p:nvSpPr>
        <p:spPr>
          <a:xfrm>
            <a:off x="548580" y="3441055"/>
            <a:ext cx="1696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70" dirty="0"/>
          </a:p>
        </p:txBody>
      </p:sp>
      <p:sp>
        <p:nvSpPr>
          <p:cNvPr id="32" name="Text 24"/>
          <p:cNvSpPr/>
          <p:nvPr/>
        </p:nvSpPr>
        <p:spPr>
          <a:xfrm>
            <a:off x="726504" y="3441055"/>
            <a:ext cx="71886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Patient ID | Disease | Risk Level (High/Medium/Low) | Confidence %</a:t>
            </a:r>
            <a:endParaRPr lang="en-US" sz="1370" dirty="0"/>
          </a:p>
        </p:txBody>
      </p:sp>
      <p:sp>
        <p:nvSpPr>
          <p:cNvPr id="33" name="Text 25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33641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2382"/>
            <a:ext cx="619200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90" b="1" spc="-52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MediSpark Improves Over Existing Work</a:t>
            </a:r>
            <a:endParaRPr lang="en-US" sz="2090" dirty="0"/>
          </a:p>
        </p:txBody>
      </p:sp>
      <p:sp>
        <p:nvSpPr>
          <p:cNvPr id="7" name="Shape 5"/>
          <p:cNvSpPr/>
          <p:nvPr/>
        </p:nvSpPr>
        <p:spPr>
          <a:xfrm>
            <a:off x="731044" y="1132210"/>
            <a:ext cx="7681912" cy="3171825"/>
          </a:xfrm>
          <a:prstGeom prst="roundRect">
            <a:avLst>
              <a:gd name="adj" fmla="val 1441"/>
            </a:avLst>
          </a:prstGeom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044" y="1132210"/>
          <a:ext cx="7681912" cy="914400"/>
        </p:xfrm>
        <a:graphic>
          <a:graphicData uri="http://schemas.openxmlformats.org/drawingml/2006/table">
            <a:tbl>
              <a:tblPr/>
              <a:tblGrid>
                <a:gridCol w="3840510"/>
                <a:gridCol w="384051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Systems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102489" marB="1024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MediSpark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102489" marB="1024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disease predicted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diseases simultaneously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on single machine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 on distributed Spark cluster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CSV storage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with 3× replication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streaming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Structured Streaming — live scoring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nulls only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veracity pipeline — IQR, dedup, validation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models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ML Pipeline API — modular, reusable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7F1D1D"/>
                          </a:solidFill>
                          <a:highlight>
                            <a:srgbClr val="FDECEC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infra (Kafka, Cassandra)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36"/>
                        </a:lnSpc>
                        <a:buNone/>
                      </a:pPr>
                      <a:r>
                        <a:rPr lang="en-US" sz="1220" dirty="0">
                          <a:solidFill>
                            <a:srgbClr val="14532D"/>
                          </a:solidFill>
                          <a:highlight>
                            <a:srgbClr val="E9F7EF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Docker Compose — reproducible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2778" marR="132778" marT="81915" marB="8191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52370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37674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MediSpark</a:t>
            </a:r>
            <a:endParaRPr lang="en-US" sz="2160" dirty="0"/>
          </a:p>
        </p:txBody>
      </p:sp>
      <p:sp>
        <p:nvSpPr>
          <p:cNvPr id="7" name="Shape 5"/>
          <p:cNvSpPr/>
          <p:nvPr/>
        </p:nvSpPr>
        <p:spPr>
          <a:xfrm>
            <a:off x="549659" y="1234939"/>
            <a:ext cx="3948112" cy="1571625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989" y="1373981"/>
            <a:ext cx="400050" cy="4000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406" y="1473398"/>
            <a:ext cx="201141" cy="201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8147" y="1391915"/>
            <a:ext cx="22987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Parallelism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48147" y="1680716"/>
            <a:ext cx="39410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Spark pipeline predicts 4 chronic diseases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simultaneously. No existing student project or paper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in a single framework.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646228" y="1234939"/>
            <a:ext cx="3948112" cy="1571625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5557" y="1373981"/>
            <a:ext cx="400050" cy="4000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74" y="1473398"/>
            <a:ext cx="201141" cy="2011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4716" y="1391915"/>
            <a:ext cx="24070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Layer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44716" y="1680716"/>
            <a:ext cx="3646430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scores new patient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5 seconds. Batch + Streaming in the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49659" y="2953978"/>
            <a:ext cx="3948112" cy="1571625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8989" y="3093021"/>
            <a:ext cx="400050" cy="4000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06" y="3192438"/>
            <a:ext cx="201141" cy="201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48147" y="3110954"/>
            <a:ext cx="18626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Veracity-First Design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48147" y="3399755"/>
            <a:ext cx="3958895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data quality stage: IQR outlier removal, null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duplicate detection, schema validation +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 to HDFS.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4646228" y="2953978"/>
            <a:ext cx="3948112" cy="1571625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15557" y="3093021"/>
            <a:ext cx="400050" cy="40005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74" y="3192438"/>
            <a:ext cx="201141" cy="2011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4716" y="3110954"/>
            <a:ext cx="32264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Scala ML Pipeline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44716" y="3399755"/>
            <a:ext cx="4055343" cy="543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Spark ML Pipeline API in Scala — the same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used at Netflix, Uber, LinkedIn — not just a</a:t>
            </a:r>
            <a:endParaRPr lang="en-US" sz="108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experiment.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19730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7144"/>
            <a:ext cx="34730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54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160" dirty="0"/>
          </a:p>
        </p:txBody>
      </p:sp>
      <p:sp>
        <p:nvSpPr>
          <p:cNvPr id="7" name="Shape 5"/>
          <p:cNvSpPr/>
          <p:nvPr/>
        </p:nvSpPr>
        <p:spPr>
          <a:xfrm>
            <a:off x="640556" y="1234901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14908" y="1330523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4042" y="1340718"/>
            <a:ext cx="72591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distributed data storage and ingestion pipeline using Hadoop HDFS and Docker.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640556" y="1733699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14908" y="1829321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4042" y="1839516"/>
            <a:ext cx="9145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 data quality and veracity pipeline in Scala for cleaning and validating multi-format healthcare data.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640556" y="2232496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14908" y="2328118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4042" y="2338313"/>
            <a:ext cx="75427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engineer feature transformation pipelines using Spark DataFrames and the ML Pipeline API.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640556" y="2731294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14908" y="2826916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4042" y="2837111"/>
            <a:ext cx="91775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and evaluate multi-disease risk prediction models using Spark MLlib (Random Forest + Logistic Regression).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640556" y="3230091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4908" y="3325713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4042" y="3335908"/>
            <a:ext cx="62191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real-time patient risk scoring using Spark Structured Streaming.</a:t>
            </a:r>
            <a:endParaRPr lang="en-US" sz="1190" dirty="0"/>
          </a:p>
        </p:txBody>
      </p:sp>
      <p:sp>
        <p:nvSpPr>
          <p:cNvPr id="22" name="Shape 20"/>
          <p:cNvSpPr/>
          <p:nvPr/>
        </p:nvSpPr>
        <p:spPr>
          <a:xfrm>
            <a:off x="640556" y="3728889"/>
            <a:ext cx="7862887" cy="40005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4908" y="3824511"/>
            <a:ext cx="165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4042" y="3834705"/>
            <a:ext cx="822611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model performance using AUC-ROC, Precision, Recall, and F1-Score metrics stored in HDFS.</a:t>
            </a:r>
            <a:endParaRPr lang="en-US" sz="1190" dirty="0"/>
          </a:p>
        </p:txBody>
      </p:sp>
      <p:sp>
        <p:nvSpPr>
          <p:cNvPr id="25" name="Text 23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8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56" y="1234901"/>
            <a:ext cx="7862887" cy="40005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1733699"/>
            <a:ext cx="7862887" cy="40005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56" y="2232496"/>
            <a:ext cx="7862887" cy="40005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56" y="2731294"/>
            <a:ext cx="7862887" cy="40005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56" y="3230091"/>
            <a:ext cx="7862887" cy="400050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0556" y="3728889"/>
            <a:ext cx="7862887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Shape 2"/>
          <p:cNvSpPr/>
          <p:nvPr/>
        </p:nvSpPr>
        <p:spPr>
          <a:xfrm>
            <a:off x="549139" y="390562"/>
            <a:ext cx="200025" cy="1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31949" y="322883"/>
            <a:ext cx="177802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234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548580" y="602382"/>
            <a:ext cx="41768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90" b="1" spc="-52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Datasets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548580" y="1150590"/>
            <a:ext cx="1800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2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547613" y="1436638"/>
            <a:ext cx="3933825" cy="3157538"/>
          </a:xfrm>
          <a:prstGeom prst="roundRect">
            <a:avLst>
              <a:gd name="adj" fmla="val 1158"/>
            </a:avLst>
          </a:prstGeom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7613" y="1436638"/>
          <a:ext cx="3933825" cy="914400"/>
        </p:xfrm>
        <a:graphic>
          <a:graphicData uri="http://schemas.openxmlformats.org/drawingml/2006/table">
            <a:tbl>
              <a:tblPr/>
              <a:tblGrid>
                <a:gridCol w="1808634"/>
                <a:gridCol w="21232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61341" marB="6134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61341" marB="6134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 3.5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data processing &amp; ML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HDFS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fault-tolerant storage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pipeline implementation language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MLlib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 — RF &amp; Logistic Regression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ML Pipeline API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feature + model pipelines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Structured Streaming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patient risk scoring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&amp; Docker Compose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multi-node cluster setup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/ Zeppelin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 &amp; visualization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54835" y="1150590"/>
            <a:ext cx="781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12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755766" y="1436266"/>
            <a:ext cx="3838575" cy="1924050"/>
          </a:xfrm>
          <a:prstGeom prst="roundRect">
            <a:avLst>
              <a:gd name="adj" fmla="val 1901"/>
            </a:avLst>
          </a:prstGeom>
          <a:ln/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5766" y="1436266"/>
          <a:ext cx="3838575" cy="914400"/>
        </p:xfrm>
        <a:graphic>
          <a:graphicData uri="http://schemas.openxmlformats.org/drawingml/2006/table">
            <a:tbl>
              <a:tblPr/>
              <a:tblGrid>
                <a:gridCol w="1612925"/>
                <a:gridCol w="1075283"/>
                <a:gridCol w="115222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61341" marB="6134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61341" marB="6134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61341" marB="6134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 UCI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 records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Repository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Indians Diabetes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records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Prediction Dataset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5,110 records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Cancer Dataset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records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Streaming Feed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58"/>
                        </a:lnSpc>
                        <a:buNone/>
                      </a:pPr>
                      <a:r>
                        <a:rPr lang="en-US" sz="97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Scala generator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6202" marR="96202" marT="56198" marB="561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707" y="1131987"/>
            <a:ext cx="9525" cy="3290887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14" name="Text 10"/>
          <p:cNvSpPr/>
          <p:nvPr/>
        </p:nvSpPr>
        <p:spPr>
          <a:xfrm>
            <a:off x="548580" y="4802609"/>
            <a:ext cx="179853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27" kern="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MediSpark | 23AID302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8456340" y="4802609"/>
            <a:ext cx="23795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2026-07-12T16:02:24Z</dcterms:created>
  <dcterms:modified xsi:type="dcterms:W3CDTF">2026-07-12T16:02:24Z</dcterms:modified>
</cp:coreProperties>
</file>